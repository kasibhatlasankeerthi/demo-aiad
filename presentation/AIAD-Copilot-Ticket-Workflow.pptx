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600" b="1" i="0" spc="200">
                <a:solidFill>
                  <a:srgbClr val="F0B466"/>
                </a:solidFill>
                <a:latin typeface="Segoe UI"/>
              </a:rPr>
              <a:t>AIAD  ·  GITHUB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lang="en-US" sz="4000" b="1" i="0" dirty="0">
                <a:solidFill>
                  <a:srgbClr val="FFFFFF"/>
                </a:solidFill>
                <a:latin typeface="Segoe UI"/>
              </a:rPr>
              <a:t>AIAD Phase-1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600" b="0" i="0">
                <a:solidFill>
                  <a:srgbClr val="C6D3E8"/>
                </a:solidFill>
                <a:latin typeface="Segoe UI"/>
              </a:rPr>
              <a:t>Prompts · Agents · Instructions · MCP  —  one command, from a Jira ticket to a reviewed pull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200" b="0" i="0">
                <a:solidFill>
                  <a:srgbClr val="9AAFC9"/>
                </a:solidFill>
                <a:latin typeface="Segoe UI"/>
              </a:rPr>
              <a:t>Prepared by Sankeerthi Kasibhatla  ·  Tao Digital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r>
              <a:rPr sz="1200" b="1" i="0" spc="150">
                <a:solidFill>
                  <a:srgbClr val="F0B466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What we'll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pPr algn="r"/>
            <a:r>
              <a:rPr sz="1200" b="1" i="0">
                <a:solidFill>
                  <a:srgbClr val="9AAFC9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202733"/>
                </a:solidFill>
                <a:latin typeface="Segoe UI"/>
              </a:rPr>
              <a:t>•  The full pipeline, high level</a:t>
            </a:r>
            <a:r>
              <a:rPr sz="1800" b="0" i="0">
                <a:solidFill>
                  <a:srgbClr val="202733"/>
                </a:solidFill>
                <a:latin typeface="Segoe UI"/>
              </a:rPr>
              <a:t>  one ticket ID in, one reviewed PR out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02733"/>
                </a:solidFill>
                <a:latin typeface="Segoe UI"/>
              </a:rPr>
              <a:t>•  The four Copilot building blocks</a:t>
            </a:r>
            <a:r>
              <a:rPr sz="1800" b="0" i="0">
                <a:solidFill>
                  <a:srgbClr val="202733"/>
                </a:solidFill>
                <a:latin typeface="Segoe UI"/>
              </a:rPr>
              <a:t>  Prompts, Agents, Instructions, MCP — what each one is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02733"/>
                </a:solidFill>
                <a:latin typeface="Segoe UI"/>
              </a:rPr>
              <a:t>•  A closer look at each block</a:t>
            </a:r>
            <a:r>
              <a:rPr sz="1800" b="0" i="0">
                <a:solidFill>
                  <a:srgbClr val="202733"/>
                </a:solidFill>
                <a:latin typeface="Segoe UI"/>
              </a:rPr>
              <a:t>  exactly where and why it's used in this workflow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02733"/>
                </a:solidFill>
                <a:latin typeface="Segoe UI"/>
              </a:rPr>
              <a:t>•  The shared stage-gate contract</a:t>
            </a:r>
            <a:r>
              <a:rPr sz="1800" b="0" i="0">
                <a:solidFill>
                  <a:srgbClr val="202733"/>
                </a:solidFill>
                <a:latin typeface="Segoe UI"/>
              </a:rPr>
              <a:t>  Plan → Confirm → Implement → Review → Test → QA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02733"/>
                </a:solidFill>
                <a:latin typeface="Segoe UI"/>
              </a:rPr>
              <a:t>•  Live demo script</a:t>
            </a:r>
            <a:r>
              <a:rPr sz="1800" b="0" i="0">
                <a:solidFill>
                  <a:srgbClr val="202733"/>
                </a:solidFill>
                <a:latin typeface="Segoe UI"/>
              </a:rPr>
              <a:t>  what we'll type, what you'll see happen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02733"/>
                </a:solidFill>
                <a:latin typeface="Segoe UI"/>
              </a:rPr>
              <a:t>•  Agents vs. Prompts</a:t>
            </a:r>
            <a:r>
              <a:rPr sz="1800" b="0" i="0">
                <a:solidFill>
                  <a:srgbClr val="202733"/>
                </a:solidFill>
                <a:latin typeface="Segoe UI"/>
              </a:rPr>
              <a:t>  why each piece was built the way it was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02733"/>
                </a:solidFill>
                <a:latin typeface="Segoe UI"/>
              </a:rPr>
              <a:t>•  What this buys the AIAD process</a:t>
            </a:r>
            <a:r>
              <a:rPr sz="1800" b="0" i="0">
                <a:solidFill>
                  <a:srgbClr val="202733"/>
                </a:solidFill>
                <a:latin typeface="Segoe UI"/>
              </a:rPr>
              <a:t>  consistency, visibility,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000" b="0" i="0" dirty="0">
                <a:solidFill>
                  <a:srgbClr val="556070"/>
                </a:solidFill>
                <a:latin typeface="Segoe UI"/>
              </a:rPr>
              <a:t>AIAD · </a:t>
            </a:r>
            <a:r>
              <a:rPr lang="en-US" sz="1000" b="0" i="0" dirty="0">
                <a:solidFill>
                  <a:srgbClr val="556070"/>
                </a:solidFill>
                <a:latin typeface="Segoe UI"/>
              </a:rPr>
              <a:t>Phase 1</a:t>
            </a:r>
            <a:endParaRPr sz="1000" b="0" i="0" dirty="0">
              <a:solidFill>
                <a:srgbClr val="55607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r>
              <a:rPr sz="1200" b="1" i="0" spc="150">
                <a:solidFill>
                  <a:srgbClr val="F0B466"/>
                </a:solidFill>
                <a:latin typeface="Segoe UI"/>
              </a:rPr>
              <a:t>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Full workflow — high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pPr algn="r"/>
            <a:r>
              <a:rPr sz="1200" b="1" i="0">
                <a:solidFill>
                  <a:srgbClr val="9AAFC9"/>
                </a:solidFill>
                <a:latin typeface="Segoe U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69950" y="1325880"/>
            <a:ext cx="5852160" cy="438912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2255550" y="1965960"/>
            <a:ext cx="7680960" cy="457200"/>
          </a:xfrm>
          <a:prstGeom prst="roundRect">
            <a:avLst>
              <a:gd name="adj" fmla="val 9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050" b="1" i="0">
                <a:solidFill>
                  <a:srgbClr val="DCEAFA"/>
                </a:solidFill>
                <a:latin typeface="Segoe UI"/>
              </a:rPr>
              <a:t>PROMPT  ·  /ticket-resolver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Fetch + classify the ticket  —  via Atlassian MCP (Jira, Confluence)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86" y="2606040"/>
            <a:ext cx="2468880" cy="457200"/>
          </a:xfrm>
          <a:prstGeom prst="roundRect">
            <a:avLst>
              <a:gd name="adj" fmla="val 9000"/>
            </a:avLst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950" b="1" i="0">
                <a:solidFill>
                  <a:srgbClr val="D8F0EC"/>
                </a:solidFill>
                <a:latin typeface="Segoe UI"/>
              </a:rPr>
              <a:t>AGENT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Setup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7422" y="2606040"/>
            <a:ext cx="2468880" cy="457200"/>
          </a:xfrm>
          <a:prstGeom prst="roundRect">
            <a:avLst>
              <a:gd name="adj" fmla="val 9000"/>
            </a:avLst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950" b="1" i="0">
                <a:solidFill>
                  <a:srgbClr val="D8F0EC"/>
                </a:solidFill>
                <a:latin typeface="Segoe UI"/>
              </a:rPr>
              <a:t>AGENT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Frontend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758" y="2606040"/>
            <a:ext cx="2468880" cy="457200"/>
          </a:xfrm>
          <a:prstGeom prst="roundRect">
            <a:avLst>
              <a:gd name="adj" fmla="val 9000"/>
            </a:avLst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950" b="1" i="0">
                <a:solidFill>
                  <a:srgbClr val="D8F0EC"/>
                </a:solidFill>
                <a:latin typeface="Segoe UI"/>
              </a:rPr>
              <a:t>AGENT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Backend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4094" y="2606040"/>
            <a:ext cx="2468880" cy="457200"/>
          </a:xfrm>
          <a:prstGeom prst="roundRect">
            <a:avLst>
              <a:gd name="adj" fmla="val 9000"/>
            </a:avLst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950" b="1" i="0">
                <a:solidFill>
                  <a:srgbClr val="D8F0EC"/>
                </a:solidFill>
                <a:latin typeface="Segoe UI"/>
              </a:rPr>
              <a:t>AGENT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Database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58270" y="3246120"/>
            <a:ext cx="9875520" cy="457200"/>
          </a:xfrm>
          <a:prstGeom prst="roundRect">
            <a:avLst>
              <a:gd name="adj" fmla="val 9000"/>
            </a:avLst>
          </a:prstGeom>
          <a:solidFill>
            <a:srgbClr val="B8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000" b="1" i="0">
                <a:solidFill>
                  <a:srgbClr val="FBE3C6"/>
                </a:solidFill>
                <a:latin typeface="Segoe UI"/>
              </a:rPr>
              <a:t>SHARED CONTRACT  ·  from Instructions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Plan  →  STOP (you confirm)  →  Implement  →  Review  → 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4190" y="3886200"/>
            <a:ext cx="6583680" cy="4572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endParaRPr sz="1300" b="1" i="0" dirty="0">
              <a:solidFill>
                <a:srgbClr val="202733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89790" y="4526280"/>
            <a:ext cx="8412480" cy="4572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endParaRPr sz="1300" b="1" i="0" dirty="0">
              <a:solidFill>
                <a:srgbClr val="202733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8430" y="5166360"/>
            <a:ext cx="7315200" cy="457200"/>
          </a:xfrm>
          <a:prstGeom prst="roundRect">
            <a:avLst>
              <a:gd name="adj" fmla="val 9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050" b="1" i="0">
                <a:solidFill>
                  <a:srgbClr val="DCEAFA"/>
                </a:solidFill>
                <a:latin typeface="Segoe UI"/>
              </a:rPr>
              <a:t>PROMPT  ·  /raise-pr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Open the PR  —  via GitHub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89790" y="5806440"/>
            <a:ext cx="8412480" cy="502920"/>
          </a:xfrm>
          <a:prstGeom prst="roundRect">
            <a:avLst>
              <a:gd name="adj" fmla="val 9000"/>
            </a:avLst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Pull Request opened</a:t>
            </a:r>
          </a:p>
          <a:p>
            <a:pPr algn="ctr"/>
            <a:r>
              <a:rPr sz="1050" b="0" i="1">
                <a:solidFill>
                  <a:srgbClr val="DEF3EA"/>
                </a:solidFill>
                <a:latin typeface="Segoe UI"/>
              </a:rPr>
              <a:t>one template  ·  testing checklist filled in by hand</a:t>
            </a:r>
          </a:p>
        </p:txBody>
      </p:sp>
      <p:cxnSp>
        <p:nvCxnSpPr>
          <p:cNvPr id="18" name="Connector 17"/>
          <p:cNvCxnSpPr>
            <a:cxnSpLocks/>
            <a:endCxn id="8" idx="0"/>
          </p:cNvCxnSpPr>
          <p:nvPr/>
        </p:nvCxnSpPr>
        <p:spPr>
          <a:xfrm>
            <a:off x="6096030" y="1783080"/>
            <a:ext cx="0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 flipH="1">
            <a:off x="2167467" y="2423160"/>
            <a:ext cx="3928563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endCxn id="13" idx="0"/>
          </p:cNvCxnSpPr>
          <p:nvPr/>
        </p:nvCxnSpPr>
        <p:spPr>
          <a:xfrm>
            <a:off x="2063526" y="3063240"/>
            <a:ext cx="4032504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endCxn id="10" idx="0"/>
          </p:cNvCxnSpPr>
          <p:nvPr/>
        </p:nvCxnSpPr>
        <p:spPr>
          <a:xfrm flipH="1">
            <a:off x="4751862" y="2423160"/>
            <a:ext cx="1344168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endCxn id="13" idx="0"/>
          </p:cNvCxnSpPr>
          <p:nvPr/>
        </p:nvCxnSpPr>
        <p:spPr>
          <a:xfrm>
            <a:off x="4751862" y="3063240"/>
            <a:ext cx="1344168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endCxn id="11" idx="0"/>
          </p:cNvCxnSpPr>
          <p:nvPr/>
        </p:nvCxnSpPr>
        <p:spPr>
          <a:xfrm>
            <a:off x="6096030" y="2423160"/>
            <a:ext cx="1344168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endCxn id="13" idx="0"/>
          </p:cNvCxnSpPr>
          <p:nvPr/>
        </p:nvCxnSpPr>
        <p:spPr>
          <a:xfrm flipH="1">
            <a:off x="6096030" y="3063240"/>
            <a:ext cx="1344168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endCxn id="12" idx="0"/>
          </p:cNvCxnSpPr>
          <p:nvPr/>
        </p:nvCxnSpPr>
        <p:spPr>
          <a:xfrm>
            <a:off x="6096030" y="2423160"/>
            <a:ext cx="4032504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endCxn id="13" idx="0"/>
          </p:cNvCxnSpPr>
          <p:nvPr/>
        </p:nvCxnSpPr>
        <p:spPr>
          <a:xfrm flipH="1">
            <a:off x="6096030" y="3063240"/>
            <a:ext cx="4032504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endCxn id="14" idx="0"/>
          </p:cNvCxnSpPr>
          <p:nvPr/>
        </p:nvCxnSpPr>
        <p:spPr>
          <a:xfrm>
            <a:off x="6096030" y="3703320"/>
            <a:ext cx="0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endCxn id="15" idx="0"/>
          </p:cNvCxnSpPr>
          <p:nvPr/>
        </p:nvCxnSpPr>
        <p:spPr>
          <a:xfrm>
            <a:off x="6096030" y="4343400"/>
            <a:ext cx="0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endCxn id="16" idx="0"/>
          </p:cNvCxnSpPr>
          <p:nvPr/>
        </p:nvCxnSpPr>
        <p:spPr>
          <a:xfrm>
            <a:off x="6096030" y="4983480"/>
            <a:ext cx="0" cy="182880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6030" y="5623560"/>
            <a:ext cx="0" cy="164592"/>
          </a:xfrm>
          <a:prstGeom prst="line">
            <a:avLst/>
          </a:prstGeom>
          <a:ln w="19050">
            <a:solidFill>
              <a:srgbClr val="C7C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000" b="0" i="0" dirty="0">
                <a:solidFill>
                  <a:srgbClr val="556070"/>
                </a:solidFill>
                <a:latin typeface="Segoe UI"/>
              </a:rPr>
              <a:t>AIAD · </a:t>
            </a:r>
            <a:r>
              <a:rPr lang="en-US" sz="1000" b="0" i="0" dirty="0">
                <a:solidFill>
                  <a:srgbClr val="556070"/>
                </a:solidFill>
                <a:latin typeface="Segoe UI"/>
              </a:rPr>
              <a:t>Phase 1</a:t>
            </a:r>
            <a:endParaRPr sz="1000" b="0" i="0" dirty="0">
              <a:solidFill>
                <a:srgbClr val="556070"/>
              </a:solidFill>
              <a:latin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F48C58-F721-DF51-80E1-D4DD9F39AF7A}"/>
              </a:ext>
            </a:extLst>
          </p:cNvPr>
          <p:cNvSpPr txBox="1"/>
          <p:nvPr/>
        </p:nvSpPr>
        <p:spPr>
          <a:xfrm>
            <a:off x="3623735" y="1363132"/>
            <a:ext cx="404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>
                <a:solidFill>
                  <a:srgbClr val="202733"/>
                </a:solidFill>
                <a:latin typeface="Segoe UI"/>
              </a:rPr>
              <a:t>🎫  Jira Ticket ID  —  e.g. PROJ-123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A767D4-77BC-F912-A568-961F527D32B7}"/>
              </a:ext>
            </a:extLst>
          </p:cNvPr>
          <p:cNvSpPr txBox="1"/>
          <p:nvPr/>
        </p:nvSpPr>
        <p:spPr>
          <a:xfrm>
            <a:off x="3031067" y="3962401"/>
            <a:ext cx="62060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202733"/>
                </a:solidFill>
                <a:latin typeface="Segoe UI"/>
              </a:rPr>
              <a:t>QA Analysis posted in chat  —  what shipped, what broke, pass rate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EFE1F4-2DB3-FD71-F72B-C2A89AEF0C34}"/>
              </a:ext>
            </a:extLst>
          </p:cNvPr>
          <p:cNvSpPr txBox="1"/>
          <p:nvPr/>
        </p:nvSpPr>
        <p:spPr>
          <a:xfrm>
            <a:off x="2063526" y="4594014"/>
            <a:ext cx="80650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202733"/>
                </a:solidFill>
                <a:latin typeface="Segoe UI"/>
              </a:rPr>
              <a:t>You review the diff + test output, then type: “raise a PR for PROJ-123”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r>
              <a:rPr sz="1200" b="1" i="0" spc="150">
                <a:solidFill>
                  <a:srgbClr val="F0B466"/>
                </a:solidFill>
                <a:latin typeface="Segoe UI"/>
              </a:rPr>
              <a:t>INSIDE EVERY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The shared stage-gate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pPr algn="r"/>
            <a:r>
              <a:rPr sz="1200" b="1" i="0">
                <a:solidFill>
                  <a:srgbClr val="9AAFC9"/>
                </a:solidFill>
                <a:latin typeface="Segoe U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310" y="2468880"/>
            <a:ext cx="1600200" cy="10058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500" b="1" i="0">
                <a:solidFill>
                  <a:srgbClr val="202733"/>
                </a:solidFill>
                <a:latin typeface="Segoe UI"/>
              </a:rPr>
              <a:t>Plan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5510" y="2715768"/>
            <a:ext cx="384048" cy="25603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9558" y="2468880"/>
            <a:ext cx="1600200" cy="1005840"/>
          </a:xfrm>
          <a:prstGeom prst="roundRect">
            <a:avLst>
              <a:gd name="adj" fmla="val 9000"/>
            </a:avLst>
          </a:prstGeom>
          <a:solidFill>
            <a:srgbClr val="B8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STOP</a:t>
            </a:r>
          </a:p>
          <a:p>
            <a:pPr algn="ctr"/>
            <a:r>
              <a:rPr sz="1050" b="0" i="1">
                <a:solidFill>
                  <a:srgbClr val="FFFFFF"/>
                </a:solidFill>
                <a:latin typeface="Segoe UI"/>
              </a:rPr>
              <a:t>you confirm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19758" y="2715768"/>
            <a:ext cx="384048" cy="25603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03806" y="2468880"/>
            <a:ext cx="1600200" cy="10058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500" b="1" i="0">
                <a:solidFill>
                  <a:srgbClr val="202733"/>
                </a:solidFill>
                <a:latin typeface="Segoe UI"/>
              </a:rPr>
              <a:t>Implement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04006" y="2715768"/>
            <a:ext cx="384048" cy="25603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88054" y="2468880"/>
            <a:ext cx="1600200" cy="10058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500" b="1" i="0">
                <a:solidFill>
                  <a:srgbClr val="202733"/>
                </a:solidFill>
                <a:latin typeface="Segoe UI"/>
              </a:rPr>
              <a:t>Review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88254" y="2715768"/>
            <a:ext cx="384048" cy="25603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2302" y="2468880"/>
            <a:ext cx="1600200" cy="10058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500" b="1" i="0">
                <a:solidFill>
                  <a:srgbClr val="202733"/>
                </a:solidFill>
                <a:latin typeface="Segoe UI"/>
              </a:rPr>
              <a:t>Test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72502" y="2715768"/>
            <a:ext cx="384048" cy="25603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56550" y="2468880"/>
            <a:ext cx="1600200" cy="1005840"/>
          </a:xfrm>
          <a:prstGeom prst="roundRect">
            <a:avLst>
              <a:gd name="adj" fmla="val 9000"/>
            </a:avLst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QA</a:t>
            </a:r>
          </a:p>
          <a:p>
            <a:pPr algn="ctr"/>
            <a:r>
              <a:rPr sz="1050" b="0" i="1">
                <a:solidFill>
                  <a:srgbClr val="FFFFFF"/>
                </a:solidFill>
                <a:latin typeface="Segoe UI"/>
              </a:rP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pPr algn="ctr"/>
            <a:r>
              <a:rPr sz="1350" b="0" i="1">
                <a:solidFill>
                  <a:srgbClr val="556070"/>
                </a:solidFill>
                <a:latin typeface="Segoe UI"/>
              </a:rPr>
              <a:t>Nothing gets implemented until a human says “continue.” Every pipeline — Setup, Frontend, Backend, Database — follows exactly these six stages.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33272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117A72"/>
                </a:solidFill>
                <a:latin typeface="Segoe UI"/>
              </a:rPr>
              <a:t>▸  Setup:  </a:t>
            </a:r>
            <a:r>
              <a:rPr sz="1300" b="0" i="0">
                <a:solidFill>
                  <a:srgbClr val="202733"/>
                </a:solidFill>
                <a:latin typeface="Segoe UI"/>
              </a:rPr>
              <a:t>no automated tests — runs the real install/build/bootstrap command and reports the output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17A72"/>
                </a:solidFill>
                <a:latin typeface="Segoe UI"/>
              </a:rPr>
              <a:t>▸  Frontend / Backend:  </a:t>
            </a:r>
            <a:r>
              <a:rPr sz="1300" b="0" i="0">
                <a:solidFill>
                  <a:srgbClr val="202733"/>
                </a:solidFill>
                <a:latin typeface="Segoe UI"/>
              </a:rPr>
              <a:t>generates tests/&lt;TICKET-ID&gt;-test-cases.md, writes a Jest spec, runs it, reports X / N passed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17A72"/>
                </a:solidFill>
                <a:latin typeface="Segoe UI"/>
              </a:rPr>
              <a:t>▸  Database:  </a:t>
            </a:r>
            <a:r>
              <a:rPr sz="1300" b="0" i="0">
                <a:solidFill>
                  <a:srgbClr val="202733"/>
                </a:solidFill>
                <a:latin typeface="Segoe UI"/>
              </a:rPr>
              <a:t>runs migrate up/down for real, plus Jest if there's a query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000" b="0" i="0" dirty="0">
                <a:solidFill>
                  <a:srgbClr val="556070"/>
                </a:solidFill>
                <a:latin typeface="Segoe UI"/>
              </a:rPr>
              <a:t>AIAD · </a:t>
            </a:r>
            <a:r>
              <a:rPr lang="en-US" sz="1000" b="0" i="0" dirty="0">
                <a:solidFill>
                  <a:srgbClr val="556070"/>
                </a:solidFill>
                <a:latin typeface="Segoe UI"/>
              </a:rPr>
              <a:t>Phase 1</a:t>
            </a:r>
            <a:endParaRPr sz="1000" b="0" i="0" dirty="0">
              <a:solidFill>
                <a:srgbClr val="55607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r>
              <a:rPr sz="1200" b="1" i="0" spc="150">
                <a:solidFill>
                  <a:srgbClr val="F0B466"/>
                </a:solidFill>
                <a:latin typeface="Segoe UI"/>
              </a:rPr>
              <a:t>CLOSING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One PR template, every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pPr algn="r"/>
            <a:r>
              <a:rPr sz="1200" b="1" i="0">
                <a:solidFill>
                  <a:srgbClr val="9AAFC9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0350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7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5577840" cy="4297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>
              <a:spcAft>
                <a:spcPts val="300"/>
              </a:spcAft>
            </a:pPr>
            <a:r>
              <a:rPr sz="1250" b="0" i="0">
                <a:solidFill>
                  <a:srgbClr val="202733"/>
                </a:solidFill>
                <a:latin typeface="Consolas"/>
              </a:rPr>
              <a:t>## Ticket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556070"/>
                </a:solidFill>
                <a:latin typeface="Consolas"/>
              </a:rPr>
              <a:t>Jira: [TICKET-ID](link)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0273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02733"/>
                </a:solidFill>
                <a:latin typeface="Consolas"/>
              </a:rPr>
              <a:t>## What was implemented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556070"/>
                </a:solidFill>
                <a:latin typeface="Consolas"/>
              </a:rPr>
              <a:t>– filled in automatically from the QA Analysis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0273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02733"/>
                </a:solidFill>
                <a:latin typeface="Consolas"/>
              </a:rPr>
              <a:t>## Type of change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556070"/>
                </a:solidFill>
                <a:latin typeface="Consolas"/>
              </a:rPr>
              <a:t>☑ Setup   ☐ Frontend   ☐ Backend   ☐ Database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0273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B86A14"/>
                </a:solidFill>
                <a:latin typeface="Consolas"/>
              </a:rPr>
              <a:t>## Testing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B86A14"/>
                </a:solidFill>
                <a:latin typeface="Consolas"/>
              </a:rPr>
              <a:t>☐ Testing was done on this change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B86A14"/>
                </a:solidFill>
                <a:latin typeface="Consolas"/>
              </a:rPr>
              <a:t>Test cases passed:  ___ / 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54480"/>
            <a:ext cx="4389120" cy="2011680"/>
          </a:xfrm>
          <a:prstGeom prst="roundRect">
            <a:avLst>
              <a:gd name="adj" fmla="val 6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Auto-filled by /raise-pr</a:t>
            </a:r>
          </a:p>
          <a:p>
            <a:pPr algn="ctr"/>
            <a:r>
              <a:rPr sz="1200" b="0" i="0">
                <a:solidFill>
                  <a:srgbClr val="DCEAFA"/>
                </a:solidFill>
                <a:latin typeface="Segoe UI"/>
              </a:rPr>
              <a:t>Ticket link, what was implemented,
type of change, scope — pulled straight
from the QA Analysis already in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749039"/>
            <a:ext cx="4389120" cy="2011680"/>
          </a:xfrm>
          <a:prstGeom prst="roundRect">
            <a:avLst>
              <a:gd name="adj" fmla="val 6000"/>
            </a:avLst>
          </a:prstGeom>
          <a:solidFill>
            <a:srgbClr val="B8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Left blank on purpose</a:t>
            </a:r>
          </a:p>
          <a:p>
            <a:pPr algn="ctr"/>
            <a:r>
              <a:rPr sz="1200" b="0" i="0">
                <a:solidFill>
                  <a:srgbClr val="FBE3C6"/>
                </a:solidFill>
                <a:latin typeface="Segoe UI"/>
              </a:rPr>
              <a:t>The testing checkbox and “___ / ___” are
never auto-filled — a human ticks them
by hand from the numbers seen in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000" b="0" i="0" dirty="0">
                <a:solidFill>
                  <a:srgbClr val="556070"/>
                </a:solidFill>
                <a:latin typeface="Segoe UI"/>
              </a:rPr>
              <a:t>AIAD · </a:t>
            </a:r>
            <a:r>
              <a:rPr lang="en-US" sz="1000" b="0" i="0" dirty="0">
                <a:solidFill>
                  <a:srgbClr val="556070"/>
                </a:solidFill>
                <a:latin typeface="Segoe UI"/>
              </a:rPr>
              <a:t>Phase 1</a:t>
            </a:r>
            <a:endParaRPr sz="1000" b="0" i="0" dirty="0">
              <a:solidFill>
                <a:srgbClr val="55607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r>
              <a:rPr sz="1200" b="1" i="0" spc="150">
                <a:solidFill>
                  <a:srgbClr val="F0B466"/>
                </a:solidFill>
                <a:latin typeface="Segoe U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What this buys the AIAD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320040"/>
          </a:xfrm>
          <a:prstGeom prst="rect">
            <a:avLst/>
          </a:prstGeom>
          <a:noFill/>
        </p:spPr>
        <p:txBody>
          <a:bodyPr wrap="square" lIns="50800" tIns="25400" rIns="50800" bIns="25400" anchor="b">
            <a:noAutofit/>
          </a:bodyPr>
          <a:lstStyle/>
          <a:p>
            <a:pPr algn="r"/>
            <a:r>
              <a:rPr sz="1200" b="1" i="0">
                <a:solidFill>
                  <a:srgbClr val="9AAFC9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202733"/>
                </a:solidFill>
                <a:latin typeface="Segoe UI"/>
              </a:rPr>
              <a:t>•  Full visibility</a:t>
            </a:r>
            <a:r>
              <a:rPr sz="1600" b="0" i="0">
                <a:solidFill>
                  <a:srgbClr val="202733"/>
                </a:solidFill>
                <a:latin typeface="Segoe UI"/>
              </a:rPr>
              <a:t>  every stage shows which agent is running and exactly what it's referencing — nothing is a black box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02733"/>
                </a:solidFill>
                <a:latin typeface="Segoe UI"/>
              </a:rPr>
              <a:t>•  Consistency</a:t>
            </a:r>
            <a:r>
              <a:rPr sz="1600" b="0" i="0">
                <a:solidFill>
                  <a:srgbClr val="202733"/>
                </a:solidFill>
                <a:latin typeface="Segoe UI"/>
              </a:rPr>
              <a:t>  the same 5-stage contract for every ticket type, every time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02733"/>
                </a:solidFill>
                <a:latin typeface="Segoe UI"/>
              </a:rPr>
              <a:t>•  Built-in guardrails</a:t>
            </a:r>
            <a:r>
              <a:rPr sz="1600" b="0" i="0">
                <a:solidFill>
                  <a:srgbClr val="202733"/>
                </a:solidFill>
                <a:latin typeface="Segoe UI"/>
              </a:rPr>
              <a:t>  each agent can only reach the tools it's scoped to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02733"/>
                </a:solidFill>
                <a:latin typeface="Segoe UI"/>
              </a:rPr>
              <a:t>•  Traceable testing</a:t>
            </a:r>
            <a:r>
              <a:rPr sz="1600" b="0" i="0">
                <a:solidFill>
                  <a:srgbClr val="202733"/>
                </a:solidFill>
                <a:latin typeface="Segoe UI"/>
              </a:rPr>
              <a:t>  real generated test files and real Jest runs, not a claim to trust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02733"/>
                </a:solidFill>
                <a:latin typeface="Segoe UI"/>
              </a:rPr>
              <a:t>•  One PR format, always</a:t>
            </a:r>
            <a:r>
              <a:rPr sz="1600" b="0" i="0">
                <a:solidFill>
                  <a:srgbClr val="202733"/>
                </a:solidFill>
                <a:latin typeface="Segoe UI"/>
              </a:rPr>
              <a:t>  same template, same fields — human sign-off preserved for testing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02733"/>
                </a:solidFill>
                <a:latin typeface="Segoe UI"/>
              </a:rPr>
              <a:t>•  Faster ramp</a:t>
            </a:r>
            <a:r>
              <a:rPr sz="1600" b="0" i="0">
                <a:solidFill>
                  <a:srgbClr val="202733"/>
                </a:solidFill>
                <a:latin typeface="Segoe UI"/>
              </a:rPr>
              <a:t>  one command takes a ticket from Jira to a reviewed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sz="1000" b="0" i="0" dirty="0">
                <a:solidFill>
                  <a:srgbClr val="556070"/>
                </a:solidFill>
                <a:latin typeface="Segoe UI"/>
              </a:rPr>
              <a:t>AIAD · </a:t>
            </a:r>
            <a:r>
              <a:rPr lang="en-US" sz="1000" b="0" i="0" dirty="0">
                <a:solidFill>
                  <a:srgbClr val="556070"/>
                </a:solidFill>
                <a:latin typeface="Segoe UI"/>
              </a:rPr>
              <a:t>Phase 1</a:t>
            </a:r>
            <a:endParaRPr sz="1000" b="0" i="0" dirty="0">
              <a:solidFill>
                <a:srgbClr val="55607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86200"/>
            <a:ext cx="12191695" cy="38100"/>
          </a:xfrm>
          <a:prstGeom prst="rect">
            <a:avLst/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r>
              <a:rPr lang="en-US" sz="3400" b="1" i="0" dirty="0">
                <a:solidFill>
                  <a:srgbClr val="FFFFFF"/>
                </a:solidFill>
                <a:latin typeface="Segoe UI"/>
              </a:rPr>
              <a:t>Demo</a:t>
            </a:r>
            <a:endParaRPr sz="3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3520440"/>
            <a:ext cx="5669280" cy="640080"/>
          </a:xfrm>
          <a:prstGeom prst="roundRect">
            <a:avLst>
              <a:gd name="adj" fmla="val 15000"/>
            </a:avLst>
          </a:prstGeom>
          <a:solidFill>
            <a:srgbClr val="11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/ticket-resolver &lt;TICKET-ID&gt;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624</Words>
  <Application>Microsoft Office PowerPoint</Application>
  <PresentationFormat>Widescreen</PresentationFormat>
  <Paragraphs>86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Sankeerthi Kasibhatla</cp:lastModifiedBy>
  <cp:revision>2</cp:revision>
  <dcterms:created xsi:type="dcterms:W3CDTF">2013-01-27T09:14:16Z</dcterms:created>
  <dcterms:modified xsi:type="dcterms:W3CDTF">2026-09-04T10:28:49Z</dcterms:modified>
  <cp:category/>
</cp:coreProperties>
</file>